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120" y="273240"/>
            <a:ext cx="10971360" cy="5302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"/>
          <p:cNvPicPr/>
          <p:nvPr/>
        </p:nvPicPr>
        <p:blipFill>
          <a:blip r:embed="rId2"/>
          <a:stretch/>
        </p:blipFill>
        <p:spPr>
          <a:xfrm>
            <a:off x="10423800" y="52560"/>
            <a:ext cx="1646640" cy="588240"/>
          </a:xfrm>
          <a:prstGeom prst="rect">
            <a:avLst/>
          </a:prstGeom>
          <a:ln>
            <a:noFill/>
          </a:ln>
        </p:spPr>
      </p:pic>
      <p:sp>
        <p:nvSpPr>
          <p:cNvPr id="1" name="Line 1"/>
          <p:cNvSpPr/>
          <p:nvPr/>
        </p:nvSpPr>
        <p:spPr>
          <a:xfrm>
            <a:off x="-12600" y="688680"/>
            <a:ext cx="12191400" cy="360"/>
          </a:xfrm>
          <a:prstGeom prst="line">
            <a:avLst/>
          </a:prstGeom>
          <a:ln w="38160">
            <a:solidFill>
              <a:srgbClr val="ed7d31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Picture 3" descr=""/>
          <p:cNvPicPr/>
          <p:nvPr/>
        </p:nvPicPr>
        <p:blipFill>
          <a:blip r:embed="rId3"/>
          <a:stretch/>
        </p:blipFill>
        <p:spPr>
          <a:xfrm>
            <a:off x="10423800" y="52560"/>
            <a:ext cx="1646640" cy="588240"/>
          </a:xfrm>
          <a:prstGeom prst="rect">
            <a:avLst/>
          </a:prstGeom>
          <a:ln>
            <a:noFill/>
          </a:ln>
        </p:spPr>
      </p:pic>
      <p:sp>
        <p:nvSpPr>
          <p:cNvPr id="3" name="Line 2"/>
          <p:cNvSpPr/>
          <p:nvPr/>
        </p:nvSpPr>
        <p:spPr>
          <a:xfrm>
            <a:off x="-12600" y="688680"/>
            <a:ext cx="12191400" cy="360"/>
          </a:xfrm>
          <a:prstGeom prst="line">
            <a:avLst/>
          </a:prstGeom>
          <a:ln w="38160">
            <a:solidFill>
              <a:srgbClr val="ed7d3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3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1360" cy="1143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457200" y="273240"/>
            <a:ext cx="111232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RTOS Overview in Embedded Systems: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1"/>
          <p:cNvGraphicFramePr/>
          <p:nvPr/>
        </p:nvGraphicFramePr>
        <p:xfrm>
          <a:off x="258840" y="1092600"/>
          <a:ext cx="9935280" cy="5043960"/>
        </p:xfrm>
        <a:graphic>
          <a:graphicData uri="http://schemas.openxmlformats.org/drawingml/2006/table">
            <a:tbl>
              <a:tblPr/>
              <a:tblGrid>
                <a:gridCol w="1986840"/>
                <a:gridCol w="1986840"/>
                <a:gridCol w="1986840"/>
                <a:gridCol w="1986840"/>
                <a:gridCol w="1988280"/>
              </a:tblGrid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</a:tr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</a:tr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</a:tr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</a:tr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</a:tr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</a:tr>
              <a:tr h="63036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</a:tr>
              <a:tr h="631800"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2"/>
          <p:cNvGraphicFramePr/>
          <p:nvPr/>
        </p:nvGraphicFramePr>
        <p:xfrm>
          <a:off x="258840" y="905760"/>
          <a:ext cx="15762240" cy="17988480"/>
        </p:xfrm>
        <a:graphic>
          <a:graphicData uri="http://schemas.openxmlformats.org/drawingml/2006/table">
            <a:tbl>
              <a:tblPr/>
              <a:tblGrid>
                <a:gridCol w="1970280"/>
                <a:gridCol w="2015280"/>
                <a:gridCol w="2000160"/>
                <a:gridCol w="2001960"/>
                <a:gridCol w="7774920"/>
              </a:tblGrid>
              <a:tr h="842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RTOS Name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Type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Key 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Typical Use Cases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Supported MCU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/ MPU Architectures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8666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FreeRTOS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Soft RTOS, Monolithic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Lightweight, open-source, portable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IoT devices, small MCUs (STM32, ESP32)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Cortex-M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(STM32, NXP, TI, Microchip SAM),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ESP32, AVR, PIC, RISC-V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Cortex-A (optional ports)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6106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Zephyr 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Soft RTOS, Microkernel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Modular, secure, supp orts multi-arch (ARM, RISC-V, x86)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IoT, wearables, industrial systems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Cortex-M (STM32, NXP, Nordic, TI),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RISC-V (SiFive, Espressif), ARC, Nios II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x86, ARM Cortex-A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4749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VxWorks (Wind River)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Hard RTOS, Hybrid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High reliability, POSIX support, certified for safety-critical systems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Aerospace, defense, automotive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MCUs/MPUs: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Cortex-A/R/M,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PowerPC, x86, MIPS, RISC-V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6106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QNX Neutrino 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Hard RTOS, Microkernel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Fault isolation, high reliability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Automotive infotainment, medical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Cortex-A, x86,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PowerPC, MIPS — focuses on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MPU-class processors, not small MCUs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3546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Integrity RTOS (Green Hills)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Hard RTOS, Microkernel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Safety-certified (DO-178C, ISO 26262), secure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Avionics, automotive ECUs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Cortex-A/R, PowerPC,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MIPS, RISC-V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Some Cortex-M variants for safety-critical control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3546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ThreadX (Azure RTOS)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Firm RTOS, Hybrid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Fast context switching, low memory footprint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Consumer electronics, IoT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Cortex-M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(STM32, NXP, Renesas, Microchip SAM), RISC-V,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MIPS, x86 (limited)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4749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RTEMS (Real-Time Executive for Multiprocessor Systems)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Firm 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Open source, supports POSIX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Space systems (NASA), industrial control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MCUs/MPUs: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ARM, PowerPC,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SPARC, x86, RISC-V,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MIPS — runs on both MCUs and MPUs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204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Nucleus RTOS (Siemens)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Firm 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Proven, low-power, multiprocessor support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Medical, industrial automation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MCUs/MPUs: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Cortex-A/R/M, MIPS,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x86, PowerPC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1138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µC/OS-II / µC/OS-III (Micrium)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Soft RTOS, Monolithic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Highly portable, preemptive multitasking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Embedded devices, training systems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Cortex-M (STM32, NXP, TI),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Renesas RX, 8051, AVR, RISC-V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1138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RIOT 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Soft 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IoT-focused, supports 6LoWPAN, IPv6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IoT sensor networks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ARM Cortex-M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(STM32, NXP, Nordic), AVR,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ESP32, MSP430, RISC-V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3546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TinyOS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Event-driven RTOS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Designed for low-power wireless sensor networks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Wireless sensor networks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Atmel AVR (ATmega), TI MSP430,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ARM Cortex-M3, TelosB motes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16124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RTLinux / Xenomai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Hard RTOS (Linux-based)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Real-time layer under Linux kernel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Robotics, industrial control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MPUs: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x86, ARM Cortex-A, PowerPC,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RISC-V — runs on Linux-capable processors,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not bare-metal MCUs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2025-09-05T11:00:59Z</dcterms:created>
  <dc:creator/>
  <dc:description/>
  <dc:language>en-IN</dc:language>
  <cp:lastModifiedBy/>
  <dcterms:modified xsi:type="dcterms:W3CDTF">2026-02-23T15:06:43Z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